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9" r:id="rId3"/>
    <p:sldId id="261" r:id="rId4"/>
    <p:sldId id="258" r:id="rId5"/>
    <p:sldId id="293" r:id="rId6"/>
    <p:sldId id="290" r:id="rId7"/>
    <p:sldId id="270" r:id="rId8"/>
    <p:sldId id="283" r:id="rId9"/>
    <p:sldId id="291" r:id="rId10"/>
    <p:sldId id="292" r:id="rId11"/>
    <p:sldId id="281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5B3F55EE-F2B0-8FAF-59A4-D7EC7C13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7A6D2F86-C1EF-6208-E393-2B0857E79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F2F45599-6E90-B640-2EEE-FE4BEB000E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7671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C8381D56-1A4B-19FE-30BE-5930C95B8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982E67B4-6AAB-BE3F-62BE-19F3D8CB69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9:notes">
            <a:extLst>
              <a:ext uri="{FF2B5EF4-FFF2-40B4-BE49-F238E27FC236}">
                <a16:creationId xmlns:a16="http://schemas.microsoft.com/office/drawing/2014/main" id="{D64A729F-C081-3C9E-343D-42E5269FCD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68715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EC7BDC19-E080-0466-0B74-55B19C90E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81EDAE62-6164-1FD4-7ED8-F2991669BB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9:notes">
            <a:extLst>
              <a:ext uri="{FF2B5EF4-FFF2-40B4-BE49-F238E27FC236}">
                <a16:creationId xmlns:a16="http://schemas.microsoft.com/office/drawing/2014/main" id="{A2CAC771-9FF7-4791-ED13-133C8FB476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537011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0A8B2A39-B3CD-4B0C-A358-A851CB382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:notes">
            <a:extLst>
              <a:ext uri="{FF2B5EF4-FFF2-40B4-BE49-F238E27FC236}">
                <a16:creationId xmlns:a16="http://schemas.microsoft.com/office/drawing/2014/main" id="{864E7BD9-AC2A-8CD5-02EC-9B23CE31DF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5:notes">
            <a:extLst>
              <a:ext uri="{FF2B5EF4-FFF2-40B4-BE49-F238E27FC236}">
                <a16:creationId xmlns:a16="http://schemas.microsoft.com/office/drawing/2014/main" id="{11F641FD-4550-8683-162B-11D6C7A10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0896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07326124-75B5-4947-98B8-BD48B6D2B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:notes">
            <a:extLst>
              <a:ext uri="{FF2B5EF4-FFF2-40B4-BE49-F238E27FC236}">
                <a16:creationId xmlns:a16="http://schemas.microsoft.com/office/drawing/2014/main" id="{9707B982-FFAB-A3F3-0F8E-C6278BCAE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5:notes">
            <a:extLst>
              <a:ext uri="{FF2B5EF4-FFF2-40B4-BE49-F238E27FC236}">
                <a16:creationId xmlns:a16="http://schemas.microsoft.com/office/drawing/2014/main" id="{CA5702A0-98B0-6323-8A0E-0A0973AB1C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9206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665713" y="2466864"/>
            <a:ext cx="10441859" cy="1354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ct val="100000"/>
            </a:pPr>
            <a:b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dirty="0"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893061" y="3912085"/>
            <a:ext cx="5202939" cy="2452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600" dirty="0">
                <a:solidFill>
                  <a:schemeClr val="tx1"/>
                </a:solidFill>
              </a:rPr>
              <a:t>PRESENTED BY:</a:t>
            </a:r>
          </a:p>
          <a:p>
            <a:pPr algn="r"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600" b="1" dirty="0">
                <a:solidFill>
                  <a:srgbClr val="002060"/>
                </a:solidFill>
              </a:rPr>
              <a:t>V PAVAN KUMAR REDDY (192472109)</a:t>
            </a:r>
          </a:p>
          <a:p>
            <a:pPr algn="r"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600" b="1" dirty="0">
                <a:solidFill>
                  <a:srgbClr val="002060"/>
                </a:solidFill>
              </a:rPr>
              <a:t>G VINAY KUMAR REDDY (192472093)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endParaRPr lang="en-US" sz="1600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665713" y="2146494"/>
            <a:ext cx="1111662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50000"/>
              </a:lnSpc>
              <a:buSzPts val="3200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Email Classification and Priority Detection Using Transformers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1" i="0" u="none" strike="noStrike" cap="none" dirty="0">
              <a:solidFill>
                <a:srgbClr val="C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" name="object 9">
            <a:extLst>
              <a:ext uri="{FF2B5EF4-FFF2-40B4-BE49-F238E27FC236}">
                <a16:creationId xmlns:a16="http://schemas.microsoft.com/office/drawing/2014/main" id="{407D8FA9-34C3-BB79-E820-FB472E538FA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930" y="454660"/>
            <a:ext cx="10288270" cy="14611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75BB38-04FB-3350-7861-2BD9FEA45F95}"/>
              </a:ext>
            </a:extLst>
          </p:cNvPr>
          <p:cNvSpPr txBox="1"/>
          <p:nvPr/>
        </p:nvSpPr>
        <p:spPr>
          <a:xfrm>
            <a:off x="3046630" y="2966390"/>
            <a:ext cx="6098740" cy="544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DSA0306  - NATURAL LANGUAGE PROCESSING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D5BABBC0-80DD-1245-DA95-FB93148AFF42}"/>
              </a:ext>
            </a:extLst>
          </p:cNvPr>
          <p:cNvSpPr/>
          <p:nvPr/>
        </p:nvSpPr>
        <p:spPr>
          <a:xfrm flipH="1">
            <a:off x="6248250" y="3900121"/>
            <a:ext cx="45719" cy="208881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C8A914-067F-4709-DC0B-0D2B4AB7ECDE}"/>
              </a:ext>
            </a:extLst>
          </p:cNvPr>
          <p:cNvSpPr txBox="1"/>
          <p:nvPr/>
        </p:nvSpPr>
        <p:spPr>
          <a:xfrm>
            <a:off x="6446219" y="3912085"/>
            <a:ext cx="6096000" cy="1338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3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600" dirty="0"/>
              <a:t>GUIDED BY:</a:t>
            </a:r>
          </a:p>
          <a:p>
            <a:pPr>
              <a:lnSpc>
                <a:spcPct val="1500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600" b="1" spc="-4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Dr. Kumaragurubaran T</a:t>
            </a:r>
          </a:p>
          <a:p>
            <a:pPr>
              <a:lnSpc>
                <a:spcPct val="1500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600" b="1" spc="-4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PROFESSOR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title"/>
          </p:nvPr>
        </p:nvSpPr>
        <p:spPr>
          <a:xfrm>
            <a:off x="1820944" y="342900"/>
            <a:ext cx="855011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1"/>
          </p:nvPr>
        </p:nvSpPr>
        <p:spPr>
          <a:xfrm>
            <a:off x="1286777" y="2006060"/>
            <a:ext cx="9618443" cy="4073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has become a primary communication medium across personal and professional domains.</a:t>
            </a:r>
          </a:p>
          <a:p>
            <a:pPr marL="342900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in email usage has led to information overload and management challenges.</a:t>
            </a:r>
          </a:p>
          <a:p>
            <a:pPr marL="342900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email filtering systems rely on manual and rule-based approaches with limited accuracy.</a:t>
            </a:r>
          </a:p>
          <a:p>
            <a:pPr marL="342900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Advances in AI and Transformer models enable effective understanding of email content.</a:t>
            </a:r>
          </a:p>
          <a:p>
            <a:pPr marL="342900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Transformer-based techniques to automate email classification and priority detection.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5" name="Google Shape;12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3121" y="25709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06416" y="24295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 descr="How to Build an Online Food Ordering System [Complete Guide]"/>
          <p:cNvSpPr/>
          <p:nvPr/>
        </p:nvSpPr>
        <p:spPr>
          <a:xfrm>
            <a:off x="6892414" y="2133600"/>
            <a:ext cx="5034116" cy="321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 descr="How to Build an Online Food Ordering System [Complete Guide]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 descr="How to Build an Online Food Ordering System [Complete Guide]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>
            <a:spLocks noGrp="1"/>
          </p:cNvSpPr>
          <p:nvPr>
            <p:ph type="title"/>
          </p:nvPr>
        </p:nvSpPr>
        <p:spPr>
          <a:xfrm>
            <a:off x="2956231" y="674923"/>
            <a:ext cx="627953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2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8"/>
          <p:cNvSpPr txBox="1">
            <a:spLocks noGrp="1"/>
          </p:cNvSpPr>
          <p:nvPr>
            <p:ph type="body" idx="1"/>
          </p:nvPr>
        </p:nvSpPr>
        <p:spPr>
          <a:xfrm>
            <a:off x="903416" y="2317236"/>
            <a:ext cx="10385167" cy="3294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email data is unstructured, noisy, and inconsistent, making it difficult to directly use for accurate analysis and model training.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classification methods fail to understand contextual meaning, leading to inaccurate categorization of emails.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email systems lack intelligent priority detection and timely alert mechanisms for critical emails.</a:t>
            </a:r>
          </a:p>
          <a:p>
            <a:pPr marL="12700" algn="just">
              <a:lnSpc>
                <a:spcPct val="150000"/>
              </a:lnSpc>
              <a:spcBef>
                <a:spcPts val="434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51" name="Google Shape;15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338" y="29156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15909" y="291568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546840" y="1730310"/>
            <a:ext cx="6149350" cy="4087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018" y="274638"/>
            <a:ext cx="1133954" cy="1347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33430" y="275202"/>
            <a:ext cx="1518036" cy="134733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2356702" y="477233"/>
            <a:ext cx="6711884" cy="1009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lang="en-US" sz="32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1FC17-1FEA-32EE-8C8F-CC10100B3A8F}"/>
              </a:ext>
            </a:extLst>
          </p:cNvPr>
          <p:cNvSpPr txBox="1"/>
          <p:nvPr/>
        </p:nvSpPr>
        <p:spPr>
          <a:xfrm>
            <a:off x="1283389" y="2018190"/>
            <a:ext cx="9625221" cy="3511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collect email data and apply preprocessing techniques to clean, normalize, and structure the data for effective model training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Transformer-based model for accurate and context-aware classification of emails.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detect email priority levels and generate alerts for high-priority emails to ensure timely responses.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832B-A33E-6B2A-07A3-2892B9D24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4893"/>
            <a:ext cx="10972800" cy="94142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br>
              <a:rPr lang="en-US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B9CEC8-66D3-2B3D-32D9-6C8BDF3CAE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F64DE65-D42A-98A5-83B3-612DBBAC0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479844"/>
              </p:ext>
            </p:extLst>
          </p:nvPr>
        </p:nvGraphicFramePr>
        <p:xfrm>
          <a:off x="914400" y="1036949"/>
          <a:ext cx="10134600" cy="513325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313180172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6772248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175091265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782253733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742254926"/>
                    </a:ext>
                  </a:extLst>
                </a:gridCol>
              </a:tblGrid>
              <a:tr h="3686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</a:rPr>
                        <a:t>Year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</a:rPr>
                        <a:t>Authors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</a:rPr>
                        <a:t>Research Title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</a:rPr>
                        <a:t>Methods / Techniques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</a:rPr>
                        <a:t>Key Contribution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1438851"/>
                  </a:ext>
                </a:extLst>
              </a:tr>
              <a:tr h="971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2024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R. Sharma, N. Iyer, A. Bose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 err="1">
                          <a:effectLst/>
                        </a:rPr>
                        <a:t>TransMail</a:t>
                      </a:r>
                      <a:r>
                        <a:rPr lang="en-IN" sz="1050" dirty="0">
                          <a:effectLst/>
                        </a:rPr>
                        <a:t>: A Transformer-Based Framework for Automated Email Classification and Priority Ranking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Fine-tuned BERT encoder, multi-head attention, priority-scoring layer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Proposed TransMail, a transformer model that jointly classifies email category and predicts urgency, improving triage accuracy over rule-based filters.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898437"/>
                  </a:ext>
                </a:extLst>
              </a:tr>
              <a:tr h="7708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2024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M. D'Souza, K. Rajan, P. Verma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Context-Aware Priority Detection in Enterprise Emails Using </a:t>
                      </a:r>
                      <a:r>
                        <a:rPr lang="en-IN" sz="1050" dirty="0" err="1">
                          <a:effectLst/>
                        </a:rPr>
                        <a:t>DistilBERT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DistilBERT, lightweight fine-tuning, contextual embeddings, real-time inference pipeline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Developed a low-latency priority-detection pipeline suited for real-time inbox triage on enterprise mail servers.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24592"/>
                  </a:ext>
                </a:extLst>
              </a:tr>
              <a:tr h="971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2025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S. Nair, T. Fernandes, J. Kumar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Hierarchical Attention Transformers for Multi-Label Email Categorization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Hierarchical attention network, transformer encoder stack, multi-label classification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Introduced a hierarchical attention mechanism that captures both sentence- and email-level context, boosting multi-label classification accuracy.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4003325"/>
                  </a:ext>
                </a:extLst>
              </a:tr>
              <a:tr h="7708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2025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A. Khan, L. Mathew, R. Pillai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PriorityBERT: Urgency-Aware Email Ranking for Smart Inbox Management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Domain-adapted BERT, urgency lexicon embedding, ranking loss optimization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Proposed PriorityBERT, combining urgency-cue embeddings with ranking loss to reorder inboxes by true business priority.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3459120"/>
                  </a:ext>
                </a:extLst>
              </a:tr>
              <a:tr h="971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2025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Y. Zhang, W. Li, H. Xu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An Efficient Vision-Free Transformer Architecture for Large-Scale Spam and Priority Email Detection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Sparse attention transformer, knowledge distillation, large-scale email corpus training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Presented a compressed transformer architecture that maintains detection accuracy while cutting inference cost for large-scale mail systems.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1919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0634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EF0DF396-4D63-7F05-AB10-F47EBED50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A8E37A-5BF3-03BC-CBAD-E4A65F0C0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18" y="1291472"/>
            <a:ext cx="10740019" cy="4725969"/>
          </a:xfrm>
          <a:prstGeom prst="rect">
            <a:avLst/>
          </a:prstGeom>
        </p:spPr>
      </p:pic>
      <p:pic>
        <p:nvPicPr>
          <p:cNvPr id="108" name="Google Shape;108;p15">
            <a:extLst>
              <a:ext uri="{FF2B5EF4-FFF2-40B4-BE49-F238E27FC236}">
                <a16:creationId xmlns:a16="http://schemas.microsoft.com/office/drawing/2014/main" id="{FF3A04AE-9801-7BC4-9D24-A1AEE00E569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4956" y="359284"/>
            <a:ext cx="1133954" cy="1347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>
            <a:extLst>
              <a:ext uri="{FF2B5EF4-FFF2-40B4-BE49-F238E27FC236}">
                <a16:creationId xmlns:a16="http://schemas.microsoft.com/office/drawing/2014/main" id="{DF38ACD6-9C30-EF24-0F48-A20ADEE6A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39008" y="257117"/>
            <a:ext cx="1518036" cy="13473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5988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B20B88A4-FA15-C6B0-F2ED-971601BA4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>
            <a:extLst>
              <a:ext uri="{FF2B5EF4-FFF2-40B4-BE49-F238E27FC236}">
                <a16:creationId xmlns:a16="http://schemas.microsoft.com/office/drawing/2014/main" id="{424D3E0B-C359-FFF0-9730-0D09548A38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8778" y="1087860"/>
            <a:ext cx="8314442" cy="1005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Email Data Collection &amp;Preprocessing</a:t>
            </a:r>
            <a:b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8" name="Google Shape;178;p21">
            <a:extLst>
              <a:ext uri="{FF2B5EF4-FFF2-40B4-BE49-F238E27FC236}">
                <a16:creationId xmlns:a16="http://schemas.microsoft.com/office/drawing/2014/main" id="{6C46AF6A-339E-3E16-250E-E235698356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5842" y="474522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>
            <a:extLst>
              <a:ext uri="{FF2B5EF4-FFF2-40B4-BE49-F238E27FC236}">
                <a16:creationId xmlns:a16="http://schemas.microsoft.com/office/drawing/2014/main" id="{A83FDEDF-3936-8039-754F-A8C25D31DF2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60057" y="374580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>
            <a:extLst>
              <a:ext uri="{FF2B5EF4-FFF2-40B4-BE49-F238E27FC236}">
                <a16:creationId xmlns:a16="http://schemas.microsoft.com/office/drawing/2014/main" id="{BED72912-8CDC-2D44-BC3C-F5BF95F165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A45300-B087-4988-53CA-BDBFACF30009}"/>
              </a:ext>
            </a:extLst>
          </p:cNvPr>
          <p:cNvSpPr txBox="1"/>
          <p:nvPr/>
        </p:nvSpPr>
        <p:spPr>
          <a:xfrm>
            <a:off x="940928" y="2469228"/>
            <a:ext cx="10310143" cy="267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Email Data: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Gather emails from public datasets, sample accounts, and organizational email servers.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Email Data: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 duplicates, errors, irrelevant content, HTML tags, and unwanted characters from the collected emails.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Text: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tokenization, stop-word removal, and text normalization to create a clean, structured dataset for the Transformer model. </a:t>
            </a:r>
          </a:p>
        </p:txBody>
      </p:sp>
    </p:spTree>
    <p:extLst>
      <p:ext uri="{BB962C8B-B14F-4D97-AF65-F5344CB8AC3E}">
        <p14:creationId xmlns:p14="http://schemas.microsoft.com/office/powerpoint/2010/main" val="199000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3153AB18-35D2-2624-E987-C8762CDB5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>
            <a:extLst>
              <a:ext uri="{FF2B5EF4-FFF2-40B4-BE49-F238E27FC236}">
                <a16:creationId xmlns:a16="http://schemas.microsoft.com/office/drawing/2014/main" id="{209990EE-6E1D-60EC-CCB2-D57F42C4C1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4714" y="1227554"/>
            <a:ext cx="102235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Email Classification &amp; Priority Detection Using Transformers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8" name="Google Shape;178;p21">
            <a:extLst>
              <a:ext uri="{FF2B5EF4-FFF2-40B4-BE49-F238E27FC236}">
                <a16:creationId xmlns:a16="http://schemas.microsoft.com/office/drawing/2014/main" id="{DBF8A27A-FD4C-CDF0-E442-AFB985E635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274638"/>
            <a:ext cx="1038829" cy="1249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>
            <a:extLst>
              <a:ext uri="{FF2B5EF4-FFF2-40B4-BE49-F238E27FC236}">
                <a16:creationId xmlns:a16="http://schemas.microsoft.com/office/drawing/2014/main" id="{143C8384-50F5-EE59-7CFD-035AF65082F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38503" y="274638"/>
            <a:ext cx="1455174" cy="124936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>
            <a:extLst>
              <a:ext uri="{FF2B5EF4-FFF2-40B4-BE49-F238E27FC236}">
                <a16:creationId xmlns:a16="http://schemas.microsoft.com/office/drawing/2014/main" id="{02DA50E3-EAC2-D722-05A9-8188024D5F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8A208B3-B250-5A7A-7B7D-1ECBA2BED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533" y="2305849"/>
            <a:ext cx="10651959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classify emails into categories such as Personal, Work, Promotional, and Spam.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the classified emails to assign High, Medium, or Low priority based on urgency, keywords, sender, and message content.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classification performance using Accuracy, Precision, Recall, and F1-Score, and generate alerts for high-priority emails. </a:t>
            </a:r>
          </a:p>
        </p:txBody>
      </p:sp>
    </p:spTree>
    <p:extLst>
      <p:ext uri="{BB962C8B-B14F-4D97-AF65-F5344CB8AC3E}">
        <p14:creationId xmlns:p14="http://schemas.microsoft.com/office/powerpoint/2010/main" val="2861324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5C09035A-1797-3BE1-84AD-150F0222A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7">
            <a:extLst>
              <a:ext uri="{FF2B5EF4-FFF2-40B4-BE49-F238E27FC236}">
                <a16:creationId xmlns:a16="http://schemas.microsoft.com/office/drawing/2014/main" id="{1DD160F8-5BF7-E9E7-012B-8E367CDE1B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7851" y="274637"/>
            <a:ext cx="1133954" cy="1347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>
            <a:extLst>
              <a:ext uri="{FF2B5EF4-FFF2-40B4-BE49-F238E27FC236}">
                <a16:creationId xmlns:a16="http://schemas.microsoft.com/office/drawing/2014/main" id="{12CD5B1E-0F1D-8118-F818-EEAB819968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6113" y="274636"/>
            <a:ext cx="1518036" cy="134733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>
            <a:extLst>
              <a:ext uri="{FF2B5EF4-FFF2-40B4-BE49-F238E27FC236}">
                <a16:creationId xmlns:a16="http://schemas.microsoft.com/office/drawing/2014/main" id="{8B2FCEC2-A22B-0FB7-0401-110F34A2F125}"/>
              </a:ext>
            </a:extLst>
          </p:cNvPr>
          <p:cNvSpPr txBox="1"/>
          <p:nvPr/>
        </p:nvSpPr>
        <p:spPr>
          <a:xfrm>
            <a:off x="1385372" y="620371"/>
            <a:ext cx="903717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</a:t>
            </a:r>
            <a:endParaRPr sz="32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62AA46-F3F8-7D93-1A95-176AA91A6131}"/>
              </a:ext>
            </a:extLst>
          </p:cNvPr>
          <p:cNvSpPr txBox="1"/>
          <p:nvPr/>
        </p:nvSpPr>
        <p:spPr>
          <a:xfrm>
            <a:off x="1531805" y="2256339"/>
            <a:ext cx="8890740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support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languages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email classification.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the solution on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real-time, scalable usage.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email systems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organization-wide application.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learning models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adapt to evolving email patterns.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alerts and cross-platform notifications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timely responses.</a:t>
            </a:r>
          </a:p>
        </p:txBody>
      </p:sp>
    </p:spTree>
    <p:extLst>
      <p:ext uri="{BB962C8B-B14F-4D97-AF65-F5344CB8AC3E}">
        <p14:creationId xmlns:p14="http://schemas.microsoft.com/office/powerpoint/2010/main" val="3950225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EBDB1974-FF27-1060-7FC0-493A3EFDA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7">
            <a:extLst>
              <a:ext uri="{FF2B5EF4-FFF2-40B4-BE49-F238E27FC236}">
                <a16:creationId xmlns:a16="http://schemas.microsoft.com/office/drawing/2014/main" id="{00BE5DB5-DB51-9AD9-A8F2-899F1EB077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7851" y="274636"/>
            <a:ext cx="1133954" cy="1347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>
            <a:extLst>
              <a:ext uri="{FF2B5EF4-FFF2-40B4-BE49-F238E27FC236}">
                <a16:creationId xmlns:a16="http://schemas.microsoft.com/office/drawing/2014/main" id="{915C9F7A-EAD4-1552-C341-6A39AFB5267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6113" y="274636"/>
            <a:ext cx="1518036" cy="134733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>
            <a:extLst>
              <a:ext uri="{FF2B5EF4-FFF2-40B4-BE49-F238E27FC236}">
                <a16:creationId xmlns:a16="http://schemas.microsoft.com/office/drawing/2014/main" id="{C76AADD9-8DD1-20C4-3B27-2085DC5E5938}"/>
              </a:ext>
            </a:extLst>
          </p:cNvPr>
          <p:cNvSpPr txBox="1"/>
          <p:nvPr/>
        </p:nvSpPr>
        <p:spPr>
          <a:xfrm>
            <a:off x="2394409" y="621899"/>
            <a:ext cx="670245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2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9D8805-ABA9-1930-9406-A16780EB5170}"/>
              </a:ext>
            </a:extLst>
          </p:cNvPr>
          <p:cNvSpPr txBox="1"/>
          <p:nvPr/>
        </p:nvSpPr>
        <p:spPr>
          <a:xfrm>
            <a:off x="822359" y="2429656"/>
            <a:ext cx="10697198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implements an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email classification and priority detection system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Transformer models.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 models enable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understanding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emails, resulting in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classification and priority detection.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 time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timely response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important emails.</a:t>
            </a:r>
          </a:p>
        </p:txBody>
      </p:sp>
    </p:spTree>
    <p:extLst>
      <p:ext uri="{BB962C8B-B14F-4D97-AF65-F5344CB8AC3E}">
        <p14:creationId xmlns:p14="http://schemas.microsoft.com/office/powerpoint/2010/main" val="2381910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844" y="274637"/>
            <a:ext cx="1133954" cy="1347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11661" y="274637"/>
            <a:ext cx="1518036" cy="134733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8"/>
          <p:cNvSpPr txBox="1"/>
          <p:nvPr/>
        </p:nvSpPr>
        <p:spPr>
          <a:xfrm>
            <a:off x="1374488" y="274637"/>
            <a:ext cx="903717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2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3DF2E-5374-3527-B795-AAD469FE28A9}"/>
              </a:ext>
            </a:extLst>
          </p:cNvPr>
          <p:cNvSpPr txBox="1"/>
          <p:nvPr/>
        </p:nvSpPr>
        <p:spPr>
          <a:xfrm>
            <a:off x="371522" y="1747331"/>
            <a:ext cx="11558175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Jamal and H. Wimmer, “An Improved Transformer‑based Model for Detecting Phishing, Spam, and Ham,”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preprint, 2023.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Mahendru and T. Pandit, “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SecureNet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Comparative Study of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DeBERTa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LLMs for Phishing Detection,”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preprint, 2024.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Tonkal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Kocaoglu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“Multimodal Approach for Spam Email Classification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Electronics, vol. 14, no. 19, 2025.M. Kshirsagar et al., “Meta-learner-based Frameworks for Interpretable Email Spam Detection,” Frontiers in AI, 2025.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Review of Deep Learning Techniques for Phishing Email Detection,” Electronics, vol. 13, no. 19,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5102</TotalTime>
  <Words>870</Words>
  <Application>Microsoft Office PowerPoint</Application>
  <PresentationFormat>Widescreen</PresentationFormat>
  <Paragraphs>83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  </vt:lpstr>
      <vt:lpstr>INTRODUCTION</vt:lpstr>
      <vt:lpstr>PROBLEM STATEMENT</vt:lpstr>
      <vt:lpstr>PowerPoint Presentation</vt:lpstr>
      <vt:lpstr>LITERATURE REVIEW </vt:lpstr>
      <vt:lpstr>PowerPoint Presentation</vt:lpstr>
      <vt:lpstr>Module 1: Email Data Collection &amp;Preprocessing </vt:lpstr>
      <vt:lpstr>Module 2: Email Classification &amp; Priority Detection Using Transformers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prakash srinivasan</dc:creator>
  <cp:lastModifiedBy>gurka vinay</cp:lastModifiedBy>
  <cp:revision>80</cp:revision>
  <dcterms:modified xsi:type="dcterms:W3CDTF">2026-08-22T05:14:16Z</dcterms:modified>
</cp:coreProperties>
</file>